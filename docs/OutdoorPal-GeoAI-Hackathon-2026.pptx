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Welcome the panel and introduce Team OutdoorPal.
- Frame the problem: people ask for a recommendation, not a forecast.
- Tease the answer — a specific venue + hour + advice, grounded in live data.
- Anchor the moment: GeoAI Hackathon @ CSRE, IIT Bombay, 2026.
- Set the tone: small open model, honest limits, real API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gap: forecasts give numbers, people need decisions.
- Walk through the park-near-expressway example — place + time both matter.
- Stress personalisation: asthma, senior, child, pregnancy tighten thresholds.
- Three right-column stats frame the system: ≤3 B params, 10 activities, zero hard-coded answers.
- Bridge to next slide: how the architecture delivers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all seven pipeline steps in order, end to end.
- Highlight parallelism — per-venue Promise.all of forecast + geospatial + routing.
- Stress caching: 30 min weather, 24 h geocoding, to stay rate-limit friendly.
- The SLM only naturalises structured output — it cannot invent weather or places.
- Mention profile tightening (asthma, senior, child, pregnancy) flows into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the live UI and paste the question verbatim; emphasise the 16-second end-to-end response.
- Walk judges through the five pipeline steps as they fire on screen.
- Point at the map markers and the cited numbers beneath each venue card.
- Stress step 4: live AQI 83 &gt; running limit 50 means every slot is flagged — the assistant refuses rather than invents.
- Invite judges to try their own city, hour, or activity after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State up front: no fine-tuning at all — Qwen2.5-1.5B-Instruct is used as-is from Hugging Face.
- Walk the Specs table row-by-row; flag the 1.54 B ≤ 3 B compliance check.
- Pivot to Guardrails: the system prompt, structured input, and hard token/temperature caps.
- Emphasise the deterministic Sources block — citations survive even if generation drifts.
- Future work: LoRA fine-tune on grounded QA pairs once eval harness is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the deck close by inviting judges to hit POST /api/assistant or the Web UI live.
- Reiterate honesty: hand-tuned thresholds are starting points, not medical advice — every AQI limit is a configurable knob.
- Walk the disclosed data sources column — six live, openly-licensed feeds, no proprietary APIs.
- Acknowledge the CPCB-vs-CAMS AQI mismatch as known and disclosed for the India context.
- Close with thank-you and a Q&amp;A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6488" y="3071813"/>
            <a:ext cx="2957513" cy="2071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375" b="1" dirty="0">
                <a:solidFill>
                  <a:srgbClr val="0F4C3A">
                    <a:alpha val="1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⛅</a:t>
            </a:r>
            <a:endParaRPr lang="en-US" sz="21375" dirty="0"/>
          </a:p>
        </p:txBody>
      </p:sp>
      <p:sp>
        <p:nvSpPr>
          <p:cNvPr id="3" name="Text 1"/>
          <p:cNvSpPr/>
          <p:nvPr/>
        </p:nvSpPr>
        <p:spPr>
          <a:xfrm>
            <a:off x="0" y="-857250"/>
            <a:ext cx="1480946" cy="2571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250" b="1" dirty="0">
                <a:solidFill>
                  <a:srgbClr val="D97706">
                    <a:alpha val="6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○</a:t>
            </a:r>
            <a:endParaRPr lang="en-US" sz="20250" dirty="0"/>
          </a:p>
        </p:txBody>
      </p:sp>
      <p:sp>
        <p:nvSpPr>
          <p:cNvPr id="4" name="Text 2"/>
          <p:cNvSpPr/>
          <p:nvPr/>
        </p:nvSpPr>
        <p:spPr>
          <a:xfrm>
            <a:off x="514350" y="228600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6418" y="264319"/>
            <a:ext cx="18422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5813" y="253603"/>
            <a:ext cx="7323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8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OutdoorPal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41058" y="221456"/>
            <a:ext cx="2488592" cy="189309"/>
          </a:xfrm>
          <a:prstGeom prst="roundRect">
            <a:avLst>
              <a:gd name="adj" fmla="val 5026425"/>
            </a:avLst>
          </a:prstGeom>
          <a:solidFill>
            <a:srgbClr val="0F4C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41058" y="221456"/>
            <a:ext cx="2488592" cy="264345"/>
          </a:xfrm>
          <a:prstGeom prst="rect">
            <a:avLst/>
          </a:prstGeom>
          <a:noFill/>
          <a:ln/>
        </p:spPr>
        <p:txBody>
          <a:bodyPr wrap="squar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GeoAI Hackathon @ CSRE · IIT Bombay ·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1320589"/>
            <a:ext cx="8329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OUTDOORPAL / GEOAI HACKATHON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1581336"/>
            <a:ext cx="7858125" cy="135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950" b="1" spc="-124" kern="0" dirty="0">
                <a:solidFill>
                  <a:srgbClr val="0F4C3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Where and when</a:t>
            </a:r>
            <a:endParaRPr lang="en-US" sz="4950" dirty="0"/>
          </a:p>
          <a:p>
            <a:pPr algn="l" indent="0" marL="0">
              <a:lnSpc>
                <a:spcPts val="4950"/>
              </a:lnSpc>
              <a:buNone/>
            </a:pPr>
            <a:r>
              <a:rPr lang="en-US" sz="4950" b="1" spc="-124" kern="0" dirty="0">
                <a:solidFill>
                  <a:srgbClr val="0F4C3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to head outdoors.</a:t>
            </a:r>
            <a:endParaRPr lang="en-US" sz="4950" dirty="0"/>
          </a:p>
        </p:txBody>
      </p:sp>
      <p:sp>
        <p:nvSpPr>
          <p:cNvPr id="11" name="Text 9"/>
          <p:cNvSpPr/>
          <p:nvPr/>
        </p:nvSpPr>
        <p:spPr>
          <a:xfrm>
            <a:off x="514350" y="3038661"/>
            <a:ext cx="5429250" cy="43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SLM-powered outdoor-activity assistant that recommends the best nearby place and time — grounded in live weather + geospatial data, never from model memory.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14350" y="3622886"/>
            <a:ext cx="1441921" cy="200025"/>
          </a:xfrm>
          <a:prstGeom prst="roundRect">
            <a:avLst>
              <a:gd name="adj" fmla="val 4757143"/>
            </a:avLst>
          </a:prstGeom>
          <a:solidFill>
            <a:srgbClr val="0F4C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3622886"/>
            <a:ext cx="1477640" cy="256032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4" kern="0" dirty="0">
                <a:solidFill>
                  <a:srgbClr val="0F4C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SLM · Qwen2.5-1.5B-Instruct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027709" y="3622886"/>
            <a:ext cx="1848780" cy="200025"/>
          </a:xfrm>
          <a:prstGeom prst="roundRect">
            <a:avLst>
              <a:gd name="adj" fmla="val 4757143"/>
            </a:avLst>
          </a:prstGeom>
          <a:solidFill>
            <a:srgbClr val="D9770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27709" y="3622886"/>
            <a:ext cx="1884499" cy="256032"/>
          </a:xfrm>
          <a:prstGeom prst="rect">
            <a:avLst/>
          </a:prstGeom>
          <a:noFill/>
          <a:ln/>
        </p:spPr>
        <p:txBody>
          <a:bodyPr wrap="square" lIns="85725" tIns="35719" rIns="85725" bIns="35719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4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data · OSM · Open-Meteo · OSRM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947926" y="3622886"/>
            <a:ext cx="1545506" cy="200025"/>
          </a:xfrm>
          <a:prstGeom prst="roundRect">
            <a:avLst>
              <a:gd name="adj" fmla="val 4757143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47926" y="3622886"/>
            <a:ext cx="3710174" cy="256032"/>
          </a:xfrm>
          <a:prstGeom prst="rect">
            <a:avLst/>
          </a:prstGeom>
          <a:noFill/>
          <a:ln/>
        </p:spPr>
        <p:txBody>
          <a:bodyPr wrap="square" lIns="85725" tIns="35719" rIns="85725" bIns="35719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4A4A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activities · personal profiles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4350" y="4864894"/>
            <a:ext cx="1645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 BY TEAM OUTDOORPAL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843378" y="4836319"/>
            <a:ext cx="1786272" cy="164306"/>
          </a:xfrm>
          <a:prstGeom prst="roundRect">
            <a:avLst>
              <a:gd name="adj" fmla="val 5791313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43378" y="4836319"/>
            <a:ext cx="1786272" cy="25237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4A4A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24, 2026 · 11:59 PM IST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25041"/>
            <a:ext cx="81153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171450"/>
            <a:ext cx="657671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OUTDOORPAL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05352" y="171450"/>
            <a:ext cx="15242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 · PROBLEM &amp; APPROACH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514350" y="614363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APPROACH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789384"/>
            <a:ext cx="7715250" cy="74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37" kern="0" dirty="0">
                <a:solidFill>
                  <a:srgbClr val="0F4C3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Forecasts tell you the weather. People want a recommendation.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514350" y="1666503"/>
            <a:ext cx="4869135" cy="110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weather app shows 32°C, 7 kph wind, AQI 83 — but the user actually asks: which park nearby, what hour tomorrow, is it safe with my asthma, what do I carry? The right answer depends on BOTH the hour and the place. A ground downwind of an expressway at 8 AM may be pleasant by evening once the wind shifts. A venue 40 minutes away at rush hour may not be worth the trip. Today's tools do not reason about place + time together, for this particular person.</a:t>
            </a:r>
            <a:endParaRPr lang="en-US" sz="816" dirty="0"/>
          </a:p>
        </p:txBody>
      </p:sp>
      <p:sp>
        <p:nvSpPr>
          <p:cNvPr id="8" name="Shape 6"/>
          <p:cNvSpPr/>
          <p:nvPr/>
        </p:nvSpPr>
        <p:spPr>
          <a:xfrm>
            <a:off x="514350" y="2809726"/>
            <a:ext cx="4869135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2927598"/>
            <a:ext cx="4869135" cy="16998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Free-form question → specific venue + hour + advice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3139678"/>
            <a:ext cx="4869135" cy="16998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Reason across multiple nearby places × the upcoming hours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4350" y="3351758"/>
            <a:ext cx="4869135" cy="16998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Tighten thresholds for asthma, senior, child, pregnancy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12085" y="1666503"/>
            <a:ext cx="3017565" cy="918976"/>
          </a:xfrm>
          <a:prstGeom prst="roundRect">
            <a:avLst>
              <a:gd name="adj" fmla="val 14511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4960" y="1795090"/>
            <a:ext cx="273181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4C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≤3 B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5754960" y="2166565"/>
            <a:ext cx="273181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PARAMS · QWEN2.5-1.5B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54960" y="2313012"/>
            <a:ext cx="2841543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open-weights, hosted on HF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12085" y="2671204"/>
            <a:ext cx="3017565" cy="1062856"/>
          </a:xfrm>
          <a:prstGeom prst="roundRect">
            <a:avLst>
              <a:gd name="adj" fmla="val 12546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54960" y="2799792"/>
            <a:ext cx="273181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4C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10+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5754960" y="3171267"/>
            <a:ext cx="273181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OUTDOOR ACTIVITIES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54960" y="3317714"/>
            <a:ext cx="2731815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running · cycling · golf · cricket · football · tennis · hiking · picnic · event · photography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12085" y="3819785"/>
            <a:ext cx="3017565" cy="918976"/>
          </a:xfrm>
          <a:prstGeom prst="roundRect">
            <a:avLst>
              <a:gd name="adj" fmla="val 14511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54960" y="3948373"/>
            <a:ext cx="273181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0F4C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2475" dirty="0"/>
          </a:p>
        </p:txBody>
      </p:sp>
      <p:sp>
        <p:nvSpPr>
          <p:cNvPr id="22" name="Text 20"/>
          <p:cNvSpPr/>
          <p:nvPr/>
        </p:nvSpPr>
        <p:spPr>
          <a:xfrm>
            <a:off x="5754960" y="4319848"/>
            <a:ext cx="273181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HARD-CODED ANSWERS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54960" y="4466295"/>
            <a:ext cx="2841543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claim tied to live API data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350" y="4879181"/>
            <a:ext cx="7199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OPENSTREETMAP · OPEN-METEO · OSRM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28421" y="4879181"/>
            <a:ext cx="1144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OUTDOORPAL ·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25041"/>
            <a:ext cx="81153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171450"/>
            <a:ext cx="69033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OUTDOORPAL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31956" y="171450"/>
            <a:ext cx="119769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 · ARCHITECTURE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514350" y="614363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789384"/>
            <a:ext cx="8486775" cy="73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37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Live-data pipeline + rule engine + SLM naturaliser.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514350" y="1552203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claim is grounded in live API data the assistant fetched at query time. The SLM only naturalises the structured reasoning output.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7922" y="2022797"/>
            <a:ext cx="976015" cy="865733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7219" y="2112094"/>
            <a:ext cx="185738" cy="185738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219" y="211209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2369269"/>
            <a:ext cx="797421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Parse query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141" y="2543961"/>
            <a:ext cx="380097" cy="152019"/>
          </a:xfrm>
          <a:prstGeom prst="roundRect">
            <a:avLst>
              <a:gd name="adj" fmla="val 6259398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8384" y="2552105"/>
            <a:ext cx="4096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parser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40371" y="2348508"/>
            <a:ext cx="1197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706575" y="2022797"/>
            <a:ext cx="976015" cy="865733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95872" y="2112094"/>
            <a:ext cx="185738" cy="185738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95872" y="211209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95872" y="2369269"/>
            <a:ext cx="797421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75061" y="2543961"/>
            <a:ext cx="561887" cy="152019"/>
          </a:xfrm>
          <a:prstGeom prst="roundRect">
            <a:avLst>
              <a:gd name="adj" fmla="val 6259398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51692" y="2552105"/>
            <a:ext cx="60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Nominatim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29024" y="2348508"/>
            <a:ext cx="1197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2895228" y="2022797"/>
            <a:ext cx="976015" cy="865733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84525" y="2112094"/>
            <a:ext cx="185738" cy="185738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84525" y="211209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84525" y="2369269"/>
            <a:ext cx="797421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Find venues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61665" y="2543961"/>
            <a:ext cx="746812" cy="152019"/>
          </a:xfrm>
          <a:prstGeom prst="roundRect">
            <a:avLst>
              <a:gd name="adj" fmla="val 6259398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889890" y="2552105"/>
            <a:ext cx="8903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Overpass · OSM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17677" y="2348508"/>
            <a:ext cx="1197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083881" y="2022797"/>
            <a:ext cx="976015" cy="865733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73178" y="2112094"/>
            <a:ext cx="185738" cy="185738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173178" y="211209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73178" y="2369269"/>
            <a:ext cx="797421" cy="26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Fetch weather + AQ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50519" y="2655359"/>
            <a:ext cx="611795" cy="152019"/>
          </a:xfrm>
          <a:prstGeom prst="roundRect">
            <a:avLst>
              <a:gd name="adj" fmla="val 6259398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119135" y="2663503"/>
            <a:ext cx="67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Open-Meteo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06330" y="2348508"/>
            <a:ext cx="1197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5272534" y="2022797"/>
            <a:ext cx="976015" cy="865733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61831" y="2112094"/>
            <a:ext cx="185738" cy="185738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61831" y="211209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61831" y="2369269"/>
            <a:ext cx="797421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Travel time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48512" y="2543961"/>
            <a:ext cx="359603" cy="152019"/>
          </a:xfrm>
          <a:prstGeom prst="roundRect">
            <a:avLst>
              <a:gd name="adj" fmla="val 6259398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61831" y="2552105"/>
            <a:ext cx="3329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94983" y="2348508"/>
            <a:ext cx="1197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6461187" y="2022797"/>
            <a:ext cx="976015" cy="865733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50484" y="2112094"/>
            <a:ext cx="185738" cy="185738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50484" y="211209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50484" y="2369269"/>
            <a:ext cx="797421" cy="26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 venue × hour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529088" y="2655359"/>
            <a:ext cx="577679" cy="152019"/>
          </a:xfrm>
          <a:prstGeom prst="roundRect">
            <a:avLst>
              <a:gd name="adj" fmla="val 6259398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71655" y="2663503"/>
            <a:ext cx="6925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rule engine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83636" y="2348508"/>
            <a:ext cx="1197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7649840" y="2022797"/>
            <a:ext cx="976015" cy="865733"/>
          </a:xfrm>
          <a:prstGeom prst="roundRect">
            <a:avLst>
              <a:gd name="adj" fmla="val 15403"/>
            </a:avLst>
          </a:prstGeom>
          <a:solidFill>
            <a:srgbClr val="D97706">
              <a:alpha val="6000"/>
            </a:srgbClr>
          </a:solidFill>
          <a:ln w="7144">
            <a:solidFill>
              <a:srgbClr val="D9770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739137" y="2112094"/>
            <a:ext cx="185738" cy="185738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739137" y="211209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739137" y="2369269"/>
            <a:ext cx="797421" cy="26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Naturalise with SLM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16277" y="2655359"/>
            <a:ext cx="683076" cy="152019"/>
          </a:xfrm>
          <a:prstGeom prst="roundRect">
            <a:avLst>
              <a:gd name="adj" fmla="val 6259398"/>
            </a:avLst>
          </a:prstGeom>
          <a:solidFill>
            <a:srgbClr val="D9770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642606" y="2663503"/>
            <a:ext cx="8304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Qwen2.5-1.5B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7922" y="3038549"/>
            <a:ext cx="3993356" cy="1701329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64369" y="3170709"/>
            <a:ext cx="3810191" cy="15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Per-venue fetch (in parallel)</a:t>
            </a:r>
            <a:endParaRPr lang="en-US" sz="956" dirty="0"/>
          </a:p>
        </p:txBody>
      </p:sp>
      <p:sp>
        <p:nvSpPr>
          <p:cNvPr id="58" name="Text 56"/>
          <p:cNvSpPr/>
          <p:nvPr/>
        </p:nvSpPr>
        <p:spPr>
          <a:xfrm>
            <a:off x="664369" y="3402099"/>
            <a:ext cx="3700463" cy="16998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Promise.all of forecast + geospatial context + routing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4369" y="3614179"/>
            <a:ext cx="3700463" cy="16998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 to 4 candidate venues per query (rate-limit friendly)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64369" y="3826259"/>
            <a:ext cx="3700463" cy="16998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In-memory cache: 30 min for weather, 24 h for geocoding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32722" y="3038549"/>
            <a:ext cx="3993356" cy="1701329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779169" y="3170709"/>
            <a:ext cx="3700462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Scoring formula</a:t>
            </a:r>
            <a:endParaRPr lang="en-US" sz="956" dirty="0"/>
          </a:p>
        </p:txBody>
      </p:sp>
      <p:sp>
        <p:nvSpPr>
          <p:cNvPr id="63" name="Text 61"/>
          <p:cNvSpPr/>
          <p:nvPr/>
        </p:nvSpPr>
        <p:spPr>
          <a:xfrm>
            <a:off x="4779169" y="3402099"/>
            <a:ext cx="3700463" cy="339578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 = 70 base + 8 ideal-temp + 5 light wind + 5 low-rain + 5 good AQI + 5 green + 5 short travel + 5 daylight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79169" y="3769109"/>
            <a:ext cx="3700463" cy="16998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Blockers subtract: each blocker drops 5 from 40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79169" y="3981190"/>
            <a:ext cx="3700463" cy="33996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Profile tightening: asthma caps AQI ≤ 30; senior / child / pregnancy tighten temp + UV + AQI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4350" y="4879181"/>
            <a:ext cx="7199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OPENSTREETMAP · OPEN-METEO · OSRM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728421" y="4879181"/>
            <a:ext cx="1144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OUTDOORPAL ·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25041"/>
            <a:ext cx="81153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171450"/>
            <a:ext cx="679437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OUTDOORPAL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23013" y="171450"/>
            <a:ext cx="130663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 · WORKED EXAMPLE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514350" y="557213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717947"/>
            <a:ext cx="8629650" cy="74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37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can I go running tomorrow evening near Koregaon Park?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517922" y="1570062"/>
            <a:ext cx="3950494" cy="2264569"/>
          </a:xfrm>
          <a:prstGeom prst="roundRect">
            <a:avLst>
              <a:gd name="adj" fmla="val 5047"/>
            </a:avLst>
          </a:prstGeom>
          <a:solidFill>
            <a:srgbClr val="F0EDE5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tmp/h2p-fit-1792684837063-kbriw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573634"/>
            <a:ext cx="3943350" cy="22717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4350" y="3923928"/>
            <a:ext cx="3957638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 — question submitted at 15:49 IST, response in 16 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72013" y="1566490"/>
            <a:ext cx="3957638" cy="485775"/>
          </a:xfrm>
          <a:prstGeom prst="roundRect">
            <a:avLst>
              <a:gd name="adj" fmla="val 27451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72025" y="1637928"/>
            <a:ext cx="171450" cy="171450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72025" y="1637928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29200" y="1666503"/>
            <a:ext cx="555069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Parse —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0" y="1673647"/>
            <a:ext cx="3210892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Activity=running · Location=Koregaon Park · Time=tomorrow 17:00–21:00 IST · profile=none.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72013" y="2109415"/>
            <a:ext cx="3957638" cy="314325"/>
          </a:xfrm>
          <a:prstGeom prst="roundRect">
            <a:avLst>
              <a:gd name="adj" fmla="val 42424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72025" y="2180853"/>
            <a:ext cx="171450" cy="171450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72025" y="2180853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9200" y="2209428"/>
            <a:ext cx="766382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Geocode —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664324" y="2216572"/>
            <a:ext cx="2740298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Nominatim → 18.5366, 73.8933 (Koregaon Park, Pune, India).</a:t>
            </a:r>
            <a:endParaRPr lang="en-US" sz="703" dirty="0"/>
          </a:p>
        </p:txBody>
      </p:sp>
      <p:sp>
        <p:nvSpPr>
          <p:cNvPr id="20" name="Text 17"/>
          <p:cNvSpPr/>
          <p:nvPr/>
        </p:nvSpPr>
        <p:spPr>
          <a:xfrm>
            <a:off x="4672013" y="2480890"/>
            <a:ext cx="3957638" cy="485775"/>
          </a:xfrm>
          <a:prstGeom prst="roundRect">
            <a:avLst>
              <a:gd name="adj" fmla="val 27451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72025" y="2552328"/>
            <a:ext cx="171450" cy="171450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72025" y="2552328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029200" y="2580903"/>
            <a:ext cx="924374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Find venues —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29200" y="2588047"/>
            <a:ext cx="331391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Overpass blocked by sandbox firewall → Nominatim POI fallback finds 4 parks within 10 km.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72013" y="3023815"/>
            <a:ext cx="3957638" cy="485775"/>
          </a:xfrm>
          <a:prstGeom prst="roundRect">
            <a:avLst>
              <a:gd name="adj" fmla="val 27451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72025" y="3095253"/>
            <a:ext cx="171450" cy="171450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72025" y="3095253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029200" y="3123828"/>
            <a:ext cx="1690363" cy="13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Score 18 venue-hour pairs —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029200" y="3130972"/>
            <a:ext cx="324103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Pune AQI 83 (live Open-Meteo AQ) &gt; running limit 50 → all slots flagged.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72013" y="3566740"/>
            <a:ext cx="3957638" cy="485775"/>
          </a:xfrm>
          <a:prstGeom prst="roundRect">
            <a:avLst>
              <a:gd name="adj" fmla="val 27451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72025" y="3638178"/>
            <a:ext cx="171450" cy="171450"/>
          </a:xfrm>
          <a:prstGeom prst="ellipse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72025" y="3638178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029200" y="3666753"/>
            <a:ext cx="1085282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Top-3 + advice —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029200" y="3673897"/>
            <a:ext cx="339383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Muredha Nala Park at 19:30 IST · 8 min by road · carry water + reflective band · avoid AQI &gt; 50.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4350" y="4167820"/>
            <a:ext cx="4212022" cy="205718"/>
          </a:xfrm>
          <a:prstGeom prst="roundRect">
            <a:avLst>
              <a:gd name="adj" fmla="val 4625495"/>
            </a:avLst>
          </a:prstGeom>
          <a:solidFill>
            <a:srgbClr val="D9770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4350" y="4167820"/>
            <a:ext cx="4212022" cy="263319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spc="14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Honest failure — when AQI is too high, the assistant says so instead of inventing a venue.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514350" y="4879181"/>
            <a:ext cx="7199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OPENSTREETMAP · OPEN-METEO · OSRM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728421" y="4879181"/>
            <a:ext cx="1144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OUTDOORPAL ·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25041"/>
            <a:ext cx="81153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171450"/>
            <a:ext cx="65222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OUTDOORPAL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50881" y="171450"/>
            <a:ext cx="167349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06 · MODEL &amp; FINE-TUNING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514350" y="557213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&amp; FINE-TUNING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717947"/>
            <a:ext cx="8629650" cy="73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37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Qwen2.5-1.5B-Instruct — used as-is, with guardrails.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514350" y="1480765"/>
            <a:ext cx="7715250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hackathon allows an open base model directly. We use Qwen2.5-1.5B-Instruct with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fine-tuning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but with strict guardrails so it can’t invent weather or places.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7922" y="1981498"/>
            <a:ext cx="3964781" cy="2139665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8656" y="21578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4C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864394" y="2127945"/>
            <a:ext cx="345757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Specs</a:t>
            </a:r>
            <a:endParaRPr lang="en-US" sz="1238" dirty="0"/>
          </a:p>
        </p:txBody>
      </p:sp>
      <p:sp>
        <p:nvSpPr>
          <p:cNvPr id="11" name="Shape 9"/>
          <p:cNvSpPr/>
          <p:nvPr/>
        </p:nvSpPr>
        <p:spPr>
          <a:xfrm>
            <a:off x="678656" y="2649996"/>
            <a:ext cx="942975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656" y="2387910"/>
            <a:ext cx="942975" cy="408051"/>
          </a:xfrm>
          <a:prstGeom prst="rect">
            <a:avLst/>
          </a:prstGeom>
          <a:noFill/>
          <a:ln/>
        </p:spPr>
        <p:txBody>
          <a:bodyPr wrap="none" lIns="28575" tIns="85725" rIns="28575" bIns="64294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56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21631" y="2649996"/>
            <a:ext cx="2700338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1631" y="2387910"/>
            <a:ext cx="2700338" cy="313885"/>
          </a:xfrm>
          <a:prstGeom prst="rect">
            <a:avLst/>
          </a:prstGeom>
          <a:noFill/>
          <a:ln/>
        </p:spPr>
        <p:txBody>
          <a:bodyPr wrap="square" lIns="28575" tIns="64294" rIns="28575" bIns="64294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Qwen/Qwen2.5-1.5B-Instruct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8656" y="2915655"/>
            <a:ext cx="942975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656" y="2653568"/>
            <a:ext cx="942975" cy="408051"/>
          </a:xfrm>
          <a:prstGeom prst="rect">
            <a:avLst/>
          </a:prstGeom>
          <a:noFill/>
          <a:ln/>
        </p:spPr>
        <p:txBody>
          <a:bodyPr wrap="none" lIns="28575" tIns="85725" rIns="28575" bIns="64294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56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21631" y="2915655"/>
            <a:ext cx="2700338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50206" y="2725006"/>
            <a:ext cx="429482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1.54 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15319" y="2725006"/>
            <a:ext cx="605361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(≤ 3 B ✓)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8656" y="3181313"/>
            <a:ext cx="942975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656" y="2919226"/>
            <a:ext cx="942975" cy="408051"/>
          </a:xfrm>
          <a:prstGeom prst="rect">
            <a:avLst/>
          </a:prstGeom>
          <a:noFill/>
          <a:ln/>
        </p:spPr>
        <p:txBody>
          <a:bodyPr wrap="none" lIns="28575" tIns="85725" rIns="28575" bIns="64294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56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21631" y="3181313"/>
            <a:ext cx="2700338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21631" y="2919226"/>
            <a:ext cx="2700338" cy="313885"/>
          </a:xfrm>
          <a:prstGeom prst="rect">
            <a:avLst/>
          </a:prstGeom>
          <a:noFill/>
          <a:ln/>
        </p:spPr>
        <p:txBody>
          <a:bodyPr wrap="none" lIns="28575" tIns="64294" rIns="28575" bIns="64294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 (open)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8656" y="3446971"/>
            <a:ext cx="942975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656" y="3184885"/>
            <a:ext cx="942975" cy="408051"/>
          </a:xfrm>
          <a:prstGeom prst="rect">
            <a:avLst/>
          </a:prstGeom>
          <a:noFill/>
          <a:ln/>
        </p:spPr>
        <p:txBody>
          <a:bodyPr wrap="none" lIns="28575" tIns="85725" rIns="28575" bIns="64294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56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21631" y="3446971"/>
            <a:ext cx="2700338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50206" y="3256322"/>
            <a:ext cx="427676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8656" y="3712629"/>
            <a:ext cx="942975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656" y="3450543"/>
            <a:ext cx="942975" cy="408051"/>
          </a:xfrm>
          <a:prstGeom prst="rect">
            <a:avLst/>
          </a:prstGeom>
          <a:noFill/>
          <a:ln/>
        </p:spPr>
        <p:txBody>
          <a:bodyPr wrap="none" lIns="28575" tIns="85725" rIns="28575" bIns="64294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56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INVOCATION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21631" y="3712629"/>
            <a:ext cx="2700338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21631" y="3450543"/>
            <a:ext cx="2700338" cy="313885"/>
          </a:xfrm>
          <a:prstGeom prst="rect">
            <a:avLst/>
          </a:prstGeom>
          <a:noFill/>
          <a:ln/>
        </p:spPr>
        <p:txBody>
          <a:bodyPr wrap="square" lIns="28575" tIns="64294" rIns="28575" bIns="64294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Hugging Face Inference API 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(or self-host with vLLM / TGI)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8656" y="3716201"/>
            <a:ext cx="942975" cy="258514"/>
          </a:xfrm>
          <a:prstGeom prst="rect">
            <a:avLst/>
          </a:prstGeom>
          <a:noFill/>
          <a:ln/>
        </p:spPr>
        <p:txBody>
          <a:bodyPr wrap="none" lIns="28575" tIns="85725" rIns="28575" bIns="64294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56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21631" y="3716201"/>
            <a:ext cx="2700338" cy="258514"/>
          </a:xfrm>
          <a:prstGeom prst="rect">
            <a:avLst/>
          </a:prstGeom>
          <a:noFill/>
          <a:ln/>
        </p:spPr>
        <p:txBody>
          <a:bodyPr wrap="square" lIns="28575" tIns="64294" rIns="28575" bIns="64294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huggingface.co/Qwen/Qwen2.5-1.5B-Instruct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1297" y="1981498"/>
            <a:ext cx="3964781" cy="2139665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22031" y="21578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007769" y="2127945"/>
            <a:ext cx="345757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Guardrails</a:t>
            </a:r>
            <a:endParaRPr lang="en-US" sz="1238" dirty="0"/>
          </a:p>
        </p:txBody>
      </p:sp>
      <p:sp>
        <p:nvSpPr>
          <p:cNvPr id="37" name="Text 35"/>
          <p:cNvSpPr/>
          <p:nvPr/>
        </p:nvSpPr>
        <p:spPr>
          <a:xfrm>
            <a:off x="4822031" y="2387910"/>
            <a:ext cx="3643313" cy="164592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prompt forbids inventing weather, places, times or numbers.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4822031" y="2584363"/>
            <a:ext cx="3643313" cy="308324"/>
          </a:xfrm>
          <a:prstGeom prst="rect">
            <a:avLst/>
          </a:prstGeom>
          <a:noFill/>
          <a:ln/>
        </p:spPr>
        <p:txBody>
          <a:bodyPr wrap="square" lIns="128588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Input is a structured payload from the rule engine — top 3 venue-hour-score triples + weather + advice.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22031" y="2920119"/>
            <a:ext cx="3643313" cy="164592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Generation capped at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350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new tokens, temperature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top-p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0.85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4822031" y="3116573"/>
            <a:ext cx="3643313" cy="308324"/>
          </a:xfrm>
          <a:prstGeom prst="rect">
            <a:avLst/>
          </a:prstGeom>
          <a:noFill/>
          <a:ln/>
        </p:spPr>
        <p:txBody>
          <a:bodyPr wrap="square" lIns="128588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Sources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block appended after SLM output so citations are never lost.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22031" y="3452329"/>
            <a:ext cx="3643313" cy="164592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any failure → template fallback (still grounded).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4350" y="4239034"/>
            <a:ext cx="8115300" cy="542925"/>
          </a:xfrm>
          <a:prstGeom prst="roundRect">
            <a:avLst>
              <a:gd name="adj" fmla="val 24561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28638" y="4239034"/>
            <a:ext cx="0" cy="542925"/>
          </a:xfrm>
          <a:prstGeom prst="line">
            <a:avLst/>
          </a:prstGeom>
          <a:noFill/>
          <a:ln w="28575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1513" y="43461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45" name="Text 43"/>
          <p:cNvSpPr/>
          <p:nvPr/>
        </p:nvSpPr>
        <p:spPr>
          <a:xfrm>
            <a:off x="900113" y="4367622"/>
            <a:ext cx="13163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a small model?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00113" y="4367622"/>
            <a:ext cx="75890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1.5 B model cannot memorise the world’s weather and geography — that limitation is the point. It forces the system to rely on live data rather than recall.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4350" y="4879181"/>
            <a:ext cx="7199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OPENSTREETMAP · OPEN-METEO · OSRM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728421" y="4879181"/>
            <a:ext cx="1144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OUTDOORPAL ·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25041"/>
            <a:ext cx="81153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171450"/>
            <a:ext cx="6032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OUTDOORPAL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60865" y="171450"/>
            <a:ext cx="21785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06 · LIMITATIONS · SOURCES · DEMO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514350" y="557213"/>
            <a:ext cx="862965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LIMITATIONS, SOURCES &amp;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717947"/>
            <a:ext cx="8629650" cy="74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37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Honest limits, disclosed sources, ready to demo.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517922" y="1570062"/>
            <a:ext cx="2602669" cy="2163775"/>
          </a:xfrm>
          <a:prstGeom prst="roundRect">
            <a:avLst>
              <a:gd name="adj" fmla="val 6163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7464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864394" y="1716509"/>
            <a:ext cx="209546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Limitations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78656" y="1990762"/>
            <a:ext cx="2281200" cy="3047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Hand-tuned thresholds (e.g. AQI ≤ 50 for running) — starting points, not medical.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8656" y="2322947"/>
            <a:ext cx="2281200" cy="3047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Overpass coverage varies by city — Pune &amp; Bengaluru rich, smaller towns thinner.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8656" y="2655131"/>
            <a:ext cx="2281200" cy="3047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Travel times are driving times — flag in advice for cycling / walking.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8656" y="2987315"/>
            <a:ext cx="2281200" cy="3047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OSM demo server rate-limited — self-host OSRM for production.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8656" y="3319500"/>
            <a:ext cx="2281200" cy="26789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AQI is CAMS European with US-AQI approximation — CPCB may differ in India.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70610" y="1570062"/>
            <a:ext cx="2602669" cy="2163775"/>
          </a:xfrm>
          <a:prstGeom prst="roundRect">
            <a:avLst>
              <a:gd name="adj" fmla="val 6163"/>
            </a:avLst>
          </a:prstGeom>
          <a:solidFill>
            <a:srgbClr val="FFFFFF"/>
          </a:solidFill>
          <a:ln w="7144">
            <a:solidFill>
              <a:srgbClr val="D8D2C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31344" y="17464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4C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3617082" y="1716509"/>
            <a:ext cx="209546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sources </a:t>
            </a:r>
            <a:pPr algn="l" indent="0" marL="0">
              <a:lnSpc>
                <a:spcPts val="1485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(all disclosed)</a:t>
            </a:r>
            <a:endParaRPr lang="en-US" sz="1238" dirty="0"/>
          </a:p>
        </p:txBody>
      </p:sp>
      <p:sp>
        <p:nvSpPr>
          <p:cNvPr id="18" name="Shape 16"/>
          <p:cNvSpPr/>
          <p:nvPr/>
        </p:nvSpPr>
        <p:spPr>
          <a:xfrm>
            <a:off x="3431344" y="2215790"/>
            <a:ext cx="22812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1344" y="2027374"/>
            <a:ext cx="928167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OpenStreetMap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51759" y="2027374"/>
            <a:ext cx="771838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(Overpass API)</a:t>
            </a:r>
            <a:endParaRPr lang="en-US" sz="703" dirty="0"/>
          </a:p>
        </p:txBody>
      </p:sp>
      <p:sp>
        <p:nvSpPr>
          <p:cNvPr id="21" name="Text 19"/>
          <p:cNvSpPr/>
          <p:nvPr/>
        </p:nvSpPr>
        <p:spPr>
          <a:xfrm>
            <a:off x="4989909" y="2003192"/>
            <a:ext cx="722635" cy="168021"/>
          </a:xfrm>
          <a:prstGeom prst="roundRect">
            <a:avLst>
              <a:gd name="adj" fmla="val 5663265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89909" y="2012193"/>
            <a:ext cx="72263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venues, context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31344" y="2472965"/>
            <a:ext cx="22812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1344" y="2284549"/>
            <a:ext cx="703945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Nominatim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89448" y="2260367"/>
            <a:ext cx="1045957" cy="168021"/>
          </a:xfrm>
          <a:prstGeom prst="roundRect">
            <a:avLst>
              <a:gd name="adj" fmla="val 5663265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12308" y="2269368"/>
            <a:ext cx="10002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geocoding, POI fallback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31344" y="2730140"/>
            <a:ext cx="22812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1344" y="2541724"/>
            <a:ext cx="1264113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Open-Meteo Forecast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99866" y="2517542"/>
            <a:ext cx="735538" cy="168021"/>
          </a:xfrm>
          <a:prstGeom prst="roundRect">
            <a:avLst>
              <a:gd name="adj" fmla="val 5663265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22726" y="2526543"/>
            <a:ext cx="6898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hourly weather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31344" y="2987315"/>
            <a:ext cx="22812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1344" y="2798899"/>
            <a:ext cx="1301134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Open-Meteo Air Quality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59743" y="2774717"/>
            <a:ext cx="574063" cy="168021"/>
          </a:xfrm>
          <a:prstGeom prst="roundRect">
            <a:avLst>
              <a:gd name="adj" fmla="val 5663265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98104" y="2783718"/>
            <a:ext cx="6973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PM2.5, AQI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31344" y="3244490"/>
            <a:ext cx="2281200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1344" y="3056074"/>
            <a:ext cx="470708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OSRM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05348" y="3031892"/>
            <a:ext cx="630056" cy="168021"/>
          </a:xfrm>
          <a:prstGeom prst="roundRect">
            <a:avLst>
              <a:gd name="adj" fmla="val 5663265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42932" y="3040893"/>
            <a:ext cx="7548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 routing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31344" y="3313249"/>
            <a:ext cx="1076125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Hugging Face Hub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14850" y="3298068"/>
            <a:ext cx="1197694" cy="150019"/>
          </a:xfrm>
          <a:prstGeom prst="roundRect">
            <a:avLst>
              <a:gd name="adj" fmla="val 6342847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514850" y="3298068"/>
            <a:ext cx="1197694" cy="230429"/>
          </a:xfrm>
          <a:prstGeom prst="rect">
            <a:avLst/>
          </a:prstGeom>
          <a:noFill/>
          <a:ln/>
        </p:spPr>
        <p:txBody>
          <a:bodyPr wrap="none" lIns="64294" tIns="21431" rIns="64294" bIns="21431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1" kern="0" dirty="0">
                <a:solidFill>
                  <a:srgbClr val="4A4A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SLM weights (Qwen2.5-1.5B)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019726" y="1566490"/>
            <a:ext cx="2609924" cy="2170919"/>
          </a:xfrm>
          <a:prstGeom prst="roundRect">
            <a:avLst>
              <a:gd name="adj" fmla="val 6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19726" y="1570062"/>
            <a:ext cx="2609924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26078" y="1566490"/>
            <a:ext cx="0" cy="2170919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19726" y="3733837"/>
            <a:ext cx="2609924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4013" y="1566490"/>
            <a:ext cx="0" cy="2170919"/>
          </a:xfrm>
          <a:prstGeom prst="line">
            <a:avLst/>
          </a:prstGeom>
          <a:noFill/>
          <a:ln w="28575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5463" y="17464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266" dirty="0"/>
          </a:p>
        </p:txBody>
      </p:sp>
      <p:sp>
        <p:nvSpPr>
          <p:cNvPr id="48" name="Text 46"/>
          <p:cNvSpPr/>
          <p:nvPr/>
        </p:nvSpPr>
        <p:spPr>
          <a:xfrm>
            <a:off x="6391201" y="1716509"/>
            <a:ext cx="207414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 it</a:t>
            </a:r>
            <a:endParaRPr lang="en-US" sz="1238" dirty="0"/>
          </a:p>
        </p:txBody>
      </p:sp>
      <p:sp>
        <p:nvSpPr>
          <p:cNvPr id="49" name="Shape 47"/>
          <p:cNvSpPr/>
          <p:nvPr/>
        </p:nvSpPr>
        <p:spPr>
          <a:xfrm>
            <a:off x="6205463" y="2201503"/>
            <a:ext cx="2259881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6205463" y="2011193"/>
            <a:ext cx="257845" cy="152019"/>
          </a:xfrm>
          <a:prstGeom prst="roundRect">
            <a:avLst>
              <a:gd name="adj" fmla="val 25063"/>
            </a:avLst>
          </a:prstGeom>
          <a:solidFill>
            <a:srgbClr val="0F4C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67944" y="2019337"/>
            <a:ext cx="3328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20458" y="2025588"/>
            <a:ext cx="67597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39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API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34808" y="2022909"/>
            <a:ext cx="14305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/api/assistant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05463" y="2430103"/>
            <a:ext cx="2259881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6205463" y="2239793"/>
            <a:ext cx="214759" cy="152019"/>
          </a:xfrm>
          <a:prstGeom prst="roundRect">
            <a:avLst>
              <a:gd name="adj" fmla="val 25063"/>
            </a:avLst>
          </a:prstGeom>
          <a:solidFill>
            <a:srgbClr val="0F4C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83567" y="2247937"/>
            <a:ext cx="258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77372" y="2254188"/>
            <a:ext cx="67597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39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991722" y="2251509"/>
            <a:ext cx="14736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/api/assistant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05463" y="2658703"/>
            <a:ext cx="2259881" cy="0"/>
          </a:xfrm>
          <a:prstGeom prst="line">
            <a:avLst/>
          </a:prstGeom>
          <a:noFill/>
          <a:ln w="7144">
            <a:solidFill>
              <a:srgbClr val="D8D2C5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6205463" y="2468393"/>
            <a:ext cx="171785" cy="152019"/>
          </a:xfrm>
          <a:prstGeom prst="roundRect">
            <a:avLst>
              <a:gd name="adj" fmla="val 25063"/>
            </a:avLst>
          </a:prstGeom>
          <a:solidFill>
            <a:srgbClr val="D9770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99245" y="2476537"/>
            <a:ext cx="1842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434398" y="2482788"/>
            <a:ext cx="67597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39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UI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48748" y="2480109"/>
            <a:ext cx="151659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Next.js app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05463" y="2696993"/>
            <a:ext cx="214759" cy="152019"/>
          </a:xfrm>
          <a:prstGeom prst="roundRect">
            <a:avLst>
              <a:gd name="adj" fmla="val 25063"/>
            </a:avLst>
          </a:prstGeom>
          <a:solidFill>
            <a:srgbClr val="D9770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183567" y="2705137"/>
            <a:ext cx="258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477372" y="2711388"/>
            <a:ext cx="6759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39" kern="0" dirty="0">
                <a:solidFill>
                  <a:srgbClr val="0F4C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991722" y="2708709"/>
            <a:ext cx="14736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README in this repo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4350" y="3851709"/>
            <a:ext cx="8115300" cy="266105"/>
          </a:xfrm>
          <a:prstGeom prst="roundRect">
            <a:avLst>
              <a:gd name="adj" fmla="val 35794"/>
            </a:avLst>
          </a:prstGeom>
          <a:solidFill>
            <a:srgbClr val="F0ED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14363" y="3923147"/>
            <a:ext cx="791527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Map data © OpenStreetMap contributors, ODbL 1.0 · Open-Meteo, CC BY 4.0 · Qwen license for model weights · Built with Z.ai as coding aid (disclosed).</a:t>
            </a:r>
            <a:endParaRPr lang="en-US" sz="647" dirty="0"/>
          </a:p>
        </p:txBody>
      </p:sp>
      <p:sp>
        <p:nvSpPr>
          <p:cNvPr id="70" name="Text 68"/>
          <p:cNvSpPr/>
          <p:nvPr/>
        </p:nvSpPr>
        <p:spPr>
          <a:xfrm>
            <a:off x="514350" y="4879181"/>
            <a:ext cx="7199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OPENSTREETMAP · OPEN-METEO · OSRM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728421" y="4879181"/>
            <a:ext cx="1144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OUTDOORPAL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2026-10-22T16:00:37Z</dcterms:created>
  <dcterms:modified xsi:type="dcterms:W3CDTF">2026-10-22T16:00:37Z</dcterms:modified>
</cp:coreProperties>
</file>